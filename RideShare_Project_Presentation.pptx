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3DD306D-8238-4287-97F3-9B8EB33A9AE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47AEE9-64EB-4AF4-83AC-C8367F352C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B4212E-A475-49F8-96C8-0E738F3AE4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8A2AF7-B570-45C6-AEBF-4B72A082D3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C85597-2001-40CA-9D75-9D07AB8C60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78BD02-B658-4E24-ACEF-0B8CEA15BA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188556-0AF0-4A77-B82D-5D460C90F9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55EDC4-4BE3-4C81-B69B-547BC0D4AF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605F81-7CA5-4B32-85AF-3DE1180EA6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A1168F-A33D-4BA7-9F6B-B383471553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2011680"/>
            <a:ext cx="5668920" cy="5668920"/>
          </a:xfrm>
          <a:prstGeom prst="ellipse">
            <a:avLst/>
          </a:prstGeom>
          <a:solidFill>
            <a:srgbClr val="FF6B0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77240" y="777240"/>
            <a:ext cx="603000" cy="603000"/>
          </a:xfrm>
          <a:prstGeom prst="roundRect">
            <a:avLst>
              <a:gd name="adj" fmla="val 22727"/>
            </a:avLst>
          </a:prstGeom>
          <a:solidFill>
            <a:srgbClr val="FF6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77240" y="77724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7240" y="1600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49" strike="noStrike">
                <a:solidFill>
                  <a:srgbClr val="FF6B00"/>
                </a:solidFill>
                <a:effectLst/>
                <a:uFillTx/>
                <a:latin typeface="Calibri"/>
                <a:ea typeface="Calibri"/>
              </a:rPr>
              <a:t>COLLEGE PROJECT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31520" y="2057400"/>
            <a:ext cx="7314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Ride</a:t>
            </a:r>
            <a:r>
              <a:rPr lang="en-US" sz="5800" b="1" u="none" strike="noStrike">
                <a:solidFill>
                  <a:srgbClr val="FF6B00"/>
                </a:solidFill>
                <a:effectLst/>
                <a:uFillTx/>
                <a:latin typeface="Calibri"/>
                <a:ea typeface="Calibri"/>
              </a:rPr>
              <a:t>Share</a:t>
            </a:r>
            <a:endParaRPr lang="en-US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77240" y="306324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D1D5DB"/>
                </a:solidFill>
                <a:effectLst/>
                <a:uFillTx/>
                <a:latin typeface="Calibri"/>
                <a:ea typeface="Calibri"/>
              </a:rPr>
              <a:t>Your ride, your way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77240" y="3703320"/>
            <a:ext cx="6491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A front-end ride-booking platform — quick fare estimates, simulated driver matching, ride history and a driver dashboard, built entirely with HTML, CSS and JavaScript.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777240" y="4892040"/>
            <a:ext cx="10606680" cy="1416960"/>
          </a:xfrm>
          <a:prstGeom prst="roundRect">
            <a:avLst>
              <a:gd name="adj" fmla="val 9032"/>
            </a:avLst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051560" y="50749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FF6B00"/>
                </a:solidFill>
                <a:effectLst/>
                <a:uFillTx/>
                <a:latin typeface="Calibri"/>
                <a:ea typeface="Calibri"/>
              </a:rPr>
              <a:t>SUBMITTED BY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1051560" y="5440680"/>
            <a:ext cx="3337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Suraj Kumar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1051560" y="5806440"/>
            <a:ext cx="333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Reg. No. 2500032518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4617720" y="5440680"/>
            <a:ext cx="3337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Abhinash Kumar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4617720" y="5806440"/>
            <a:ext cx="333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Reg. No. 2500030978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8183880" y="5440680"/>
            <a:ext cx="3337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Shanu Kumar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8183880" y="5806440"/>
            <a:ext cx="333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Reg. No. 2500032084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640080" y="5029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THE PROBLEM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594360" y="868680"/>
            <a:ext cx="65833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Booking a ride still takes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too many steps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640080" y="2514600"/>
            <a:ext cx="6034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Riders want a fare in seconds, a driver they can trust, and a record of what they paid. RideShare puts all three in one simple front-end flow, no backend required to demonstrate the experience.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640080" y="3913560"/>
            <a:ext cx="273960" cy="273960"/>
          </a:xfrm>
          <a:prstGeom prst="ellipse">
            <a:avLst/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640080" y="39135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1097280" y="383148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No upfront pricing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1097280" y="41058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Riders commit before knowing what a trip will cost.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7"/>
          <p:cNvSpPr/>
          <p:nvPr/>
        </p:nvSpPr>
        <p:spPr>
          <a:xfrm>
            <a:off x="640080" y="4572000"/>
            <a:ext cx="273960" cy="273960"/>
          </a:xfrm>
          <a:prstGeom prst="ellipse">
            <a:avLst/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640080" y="45720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1097280" y="448956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Slow driver matching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1097280" y="47638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No live sense of when a ride will actually arrive.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1"/>
          <p:cNvSpPr/>
          <p:nvPr/>
        </p:nvSpPr>
        <p:spPr>
          <a:xfrm>
            <a:off x="640080" y="5230440"/>
            <a:ext cx="273960" cy="273960"/>
          </a:xfrm>
          <a:prstGeom prst="ellipse">
            <a:avLst/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640080" y="52304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1097280" y="514800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No ride record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1097280" y="54223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Past trips and fares are easy to lose track of.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5"/>
          <p:cNvSpPr/>
          <p:nvPr/>
        </p:nvSpPr>
        <p:spPr>
          <a:xfrm>
            <a:off x="640080" y="5888880"/>
            <a:ext cx="273960" cy="273960"/>
          </a:xfrm>
          <a:prstGeom prst="ellipse">
            <a:avLst/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640080" y="588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1097280" y="580644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Two separate apps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8"/>
          <p:cNvSpPr/>
          <p:nvPr/>
        </p:nvSpPr>
        <p:spPr>
          <a:xfrm>
            <a:off x="1097280" y="608076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Riders and drivers often need entirely different tools.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9"/>
          <p:cNvSpPr/>
          <p:nvPr/>
        </p:nvSpPr>
        <p:spPr>
          <a:xfrm>
            <a:off x="7452360" y="868680"/>
            <a:ext cx="4114440" cy="5394600"/>
          </a:xfrm>
          <a:prstGeom prst="roundRect">
            <a:avLst>
              <a:gd name="adj" fmla="val 3111"/>
            </a:avLst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7818120" y="114300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50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RIDESHARE SOLVES IT WITH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7818120" y="1710000"/>
            <a:ext cx="310680" cy="310680"/>
          </a:xfrm>
          <a:prstGeom prst="ellipse">
            <a:avLst/>
          </a:prstGeom>
          <a:solidFill>
            <a:srgbClr val="FF6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2"/>
          <p:cNvSpPr/>
          <p:nvPr/>
        </p:nvSpPr>
        <p:spPr>
          <a:xfrm>
            <a:off x="7818120" y="17100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8275320" y="169164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Instant fare estimate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4"/>
          <p:cNvSpPr/>
          <p:nvPr/>
        </p:nvSpPr>
        <p:spPr>
          <a:xfrm>
            <a:off x="8275320" y="201168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Base + distance + ride type, before you confirm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5"/>
          <p:cNvSpPr/>
          <p:nvPr/>
        </p:nvSpPr>
        <p:spPr>
          <a:xfrm>
            <a:off x="7818120" y="2761560"/>
            <a:ext cx="310680" cy="310680"/>
          </a:xfrm>
          <a:prstGeom prst="ellipse">
            <a:avLst/>
          </a:prstGeom>
          <a:solidFill>
            <a:srgbClr val="FF6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6"/>
          <p:cNvSpPr/>
          <p:nvPr/>
        </p:nvSpPr>
        <p:spPr>
          <a:xfrm>
            <a:off x="7818120" y="27615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7"/>
          <p:cNvSpPr/>
          <p:nvPr/>
        </p:nvSpPr>
        <p:spPr>
          <a:xfrm>
            <a:off x="8275320" y="27432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Simulated driver match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8"/>
          <p:cNvSpPr/>
          <p:nvPr/>
        </p:nvSpPr>
        <p:spPr>
          <a:xfrm>
            <a:off x="8275320" y="306324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A driver, vehicle and rating assigned in seconds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9"/>
          <p:cNvSpPr/>
          <p:nvPr/>
        </p:nvSpPr>
        <p:spPr>
          <a:xfrm>
            <a:off x="7818120" y="3813120"/>
            <a:ext cx="310680" cy="310680"/>
          </a:xfrm>
          <a:prstGeom prst="ellipse">
            <a:avLst/>
          </a:prstGeom>
          <a:solidFill>
            <a:srgbClr val="FF6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0"/>
          <p:cNvSpPr/>
          <p:nvPr/>
        </p:nvSpPr>
        <p:spPr>
          <a:xfrm>
            <a:off x="7818120" y="38131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1"/>
          <p:cNvSpPr/>
          <p:nvPr/>
        </p:nvSpPr>
        <p:spPr>
          <a:xfrm>
            <a:off x="8275320" y="379476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Full ride history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2"/>
          <p:cNvSpPr/>
          <p:nvPr/>
        </p:nvSpPr>
        <p:spPr>
          <a:xfrm>
            <a:off x="8275320" y="411480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Every trip saved with route, fare and status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3"/>
          <p:cNvSpPr/>
          <p:nvPr/>
        </p:nvSpPr>
        <p:spPr>
          <a:xfrm>
            <a:off x="7818120" y="4864680"/>
            <a:ext cx="310680" cy="310680"/>
          </a:xfrm>
          <a:prstGeom prst="ellipse">
            <a:avLst/>
          </a:prstGeom>
          <a:solidFill>
            <a:srgbClr val="FF6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4"/>
          <p:cNvSpPr/>
          <p:nvPr/>
        </p:nvSpPr>
        <p:spPr>
          <a:xfrm>
            <a:off x="7818120" y="48646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5"/>
          <p:cNvSpPr/>
          <p:nvPr/>
        </p:nvSpPr>
        <p:spPr>
          <a:xfrm>
            <a:off x="8275320" y="48463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Rider &amp; driver modes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6"/>
          <p:cNvSpPr/>
          <p:nvPr/>
        </p:nvSpPr>
        <p:spPr>
          <a:xfrm>
            <a:off x="8275320" y="516636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One account, two dashboards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7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640080" y="5029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OBJECTIVES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594360" y="86868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What the platform sets out to do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640080" y="1828800"/>
            <a:ext cx="3422520" cy="1874160"/>
          </a:xfrm>
          <a:prstGeom prst="roundRect">
            <a:avLst>
              <a:gd name="adj" fmla="val 5854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896040" y="2084760"/>
            <a:ext cx="456840" cy="456840"/>
          </a:xfrm>
          <a:prstGeom prst="roundRect">
            <a:avLst>
              <a:gd name="adj" fmla="val 22000"/>
            </a:avLst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896040" y="208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896040" y="2697480"/>
            <a:ext cx="291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Let riders register &amp; log 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896040" y="3063240"/>
            <a:ext cx="291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Simple email/password accounts stored client-side.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4383000" y="1828800"/>
            <a:ext cx="3422520" cy="1874160"/>
          </a:xfrm>
          <a:prstGeom prst="roundRect">
            <a:avLst>
              <a:gd name="adj" fmla="val 5854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8"/>
          <p:cNvSpPr/>
          <p:nvPr/>
        </p:nvSpPr>
        <p:spPr>
          <a:xfrm>
            <a:off x="4638960" y="2084760"/>
            <a:ext cx="456840" cy="456840"/>
          </a:xfrm>
          <a:prstGeom prst="roundRect">
            <a:avLst>
              <a:gd name="adj" fmla="val 22000"/>
            </a:avLst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4638960" y="208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4638960" y="2697480"/>
            <a:ext cx="291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Estimate fares instantly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4638960" y="3063240"/>
            <a:ext cx="291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Base fare, distance and ride-type combine into one price.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2"/>
          <p:cNvSpPr/>
          <p:nvPr/>
        </p:nvSpPr>
        <p:spPr>
          <a:xfrm>
            <a:off x="8125920" y="1828800"/>
            <a:ext cx="3422520" cy="1874160"/>
          </a:xfrm>
          <a:prstGeom prst="roundRect">
            <a:avLst>
              <a:gd name="adj" fmla="val 5854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8381880" y="2084760"/>
            <a:ext cx="456840" cy="456840"/>
          </a:xfrm>
          <a:prstGeom prst="roundRect">
            <a:avLst>
              <a:gd name="adj" fmla="val 22000"/>
            </a:avLst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8381880" y="208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8381880" y="2697480"/>
            <a:ext cx="291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Simulate driver matching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6"/>
          <p:cNvSpPr/>
          <p:nvPr/>
        </p:nvSpPr>
        <p:spPr>
          <a:xfrm>
            <a:off x="8381880" y="3063240"/>
            <a:ext cx="291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 driver, vehicle and rating assigned after a short wait.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7"/>
          <p:cNvSpPr/>
          <p:nvPr/>
        </p:nvSpPr>
        <p:spPr>
          <a:xfrm>
            <a:off x="640080" y="3977640"/>
            <a:ext cx="3422520" cy="1874160"/>
          </a:xfrm>
          <a:prstGeom prst="roundRect">
            <a:avLst>
              <a:gd name="adj" fmla="val 5854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8"/>
          <p:cNvSpPr/>
          <p:nvPr/>
        </p:nvSpPr>
        <p:spPr>
          <a:xfrm>
            <a:off x="896040" y="4233600"/>
            <a:ext cx="456840" cy="456840"/>
          </a:xfrm>
          <a:prstGeom prst="roundRect">
            <a:avLst>
              <a:gd name="adj" fmla="val 22000"/>
            </a:avLst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9"/>
          <p:cNvSpPr/>
          <p:nvPr/>
        </p:nvSpPr>
        <p:spPr>
          <a:xfrm>
            <a:off x="896040" y="4233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0"/>
          <p:cNvSpPr/>
          <p:nvPr/>
        </p:nvSpPr>
        <p:spPr>
          <a:xfrm>
            <a:off x="896040" y="4846320"/>
            <a:ext cx="291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Track ride status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1"/>
          <p:cNvSpPr/>
          <p:nvPr/>
        </p:nvSpPr>
        <p:spPr>
          <a:xfrm>
            <a:off x="896040" y="5212080"/>
            <a:ext cx="291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Searching → driver assigned → in progress, in one card.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2"/>
          <p:cNvSpPr/>
          <p:nvPr/>
        </p:nvSpPr>
        <p:spPr>
          <a:xfrm>
            <a:off x="4383000" y="3977640"/>
            <a:ext cx="3422520" cy="1874160"/>
          </a:xfrm>
          <a:prstGeom prst="roundRect">
            <a:avLst>
              <a:gd name="adj" fmla="val 5854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3"/>
          <p:cNvSpPr/>
          <p:nvPr/>
        </p:nvSpPr>
        <p:spPr>
          <a:xfrm>
            <a:off x="4638960" y="4233600"/>
            <a:ext cx="456840" cy="456840"/>
          </a:xfrm>
          <a:prstGeom prst="roundRect">
            <a:avLst>
              <a:gd name="adj" fmla="val 22000"/>
            </a:avLst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4"/>
          <p:cNvSpPr/>
          <p:nvPr/>
        </p:nvSpPr>
        <p:spPr>
          <a:xfrm>
            <a:off x="4638960" y="4233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5"/>
          <p:cNvSpPr/>
          <p:nvPr/>
        </p:nvSpPr>
        <p:spPr>
          <a:xfrm>
            <a:off x="4638960" y="4846320"/>
            <a:ext cx="291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Keep a ride history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6"/>
          <p:cNvSpPr/>
          <p:nvPr/>
        </p:nvSpPr>
        <p:spPr>
          <a:xfrm>
            <a:off x="4638960" y="5212080"/>
            <a:ext cx="291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Every trip logged per user, with fare and status.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7"/>
          <p:cNvSpPr/>
          <p:nvPr/>
        </p:nvSpPr>
        <p:spPr>
          <a:xfrm>
            <a:off x="8125920" y="3977640"/>
            <a:ext cx="3422520" cy="1874160"/>
          </a:xfrm>
          <a:prstGeom prst="roundRect">
            <a:avLst>
              <a:gd name="adj" fmla="val 5854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8"/>
          <p:cNvSpPr/>
          <p:nvPr/>
        </p:nvSpPr>
        <p:spPr>
          <a:xfrm>
            <a:off x="8381880" y="4233600"/>
            <a:ext cx="456840" cy="456840"/>
          </a:xfrm>
          <a:prstGeom prst="roundRect">
            <a:avLst>
              <a:gd name="adj" fmla="val 22000"/>
            </a:avLst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9"/>
          <p:cNvSpPr/>
          <p:nvPr/>
        </p:nvSpPr>
        <p:spPr>
          <a:xfrm>
            <a:off x="8381880" y="4233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0"/>
          <p:cNvSpPr/>
          <p:nvPr/>
        </p:nvSpPr>
        <p:spPr>
          <a:xfrm>
            <a:off x="8381880" y="4846320"/>
            <a:ext cx="291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Support driver accounts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1"/>
          <p:cNvSpPr/>
          <p:nvPr/>
        </p:nvSpPr>
        <p:spPr>
          <a:xfrm>
            <a:off x="8381880" y="5212080"/>
            <a:ext cx="291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 driver dashboard showing rides completed and earnings.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2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640080" y="5029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F6B00"/>
                </a:solidFill>
                <a:effectLst/>
                <a:uFillTx/>
                <a:latin typeface="Calibri"/>
                <a:ea typeface="Calibri"/>
              </a:rPr>
              <a:t>KEY FEATURES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594360" y="86868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What's actually built into the app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640080" y="1828800"/>
            <a:ext cx="3422520" cy="1874160"/>
          </a:xfrm>
          <a:prstGeom prst="roundRect">
            <a:avLst>
              <a:gd name="adj" fmla="val 5854"/>
            </a:avLst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896040" y="2084760"/>
            <a:ext cx="456840" cy="456840"/>
          </a:xfrm>
          <a:prstGeom prst="ellipse">
            <a:avLst/>
          </a:prstGeom>
          <a:solidFill>
            <a:srgbClr val="2A21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896040" y="208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6B00"/>
                </a:solidFill>
                <a:effectLst/>
                <a:uFillTx/>
                <a:latin typeface="Calibri"/>
                <a:ea typeface="Calibri"/>
              </a:rPr>
              <a:t>⚡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896040" y="2697480"/>
            <a:ext cx="291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Quick Booking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896040" y="3063240"/>
            <a:ext cx="291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A home-page card that jumps straight into a fare estimate.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7"/>
          <p:cNvSpPr/>
          <p:nvPr/>
        </p:nvSpPr>
        <p:spPr>
          <a:xfrm>
            <a:off x="4383000" y="1828800"/>
            <a:ext cx="3422520" cy="1874160"/>
          </a:xfrm>
          <a:prstGeom prst="roundRect">
            <a:avLst>
              <a:gd name="adj" fmla="val 5854"/>
            </a:avLst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8"/>
          <p:cNvSpPr/>
          <p:nvPr/>
        </p:nvSpPr>
        <p:spPr>
          <a:xfrm>
            <a:off x="4638960" y="2084760"/>
            <a:ext cx="456840" cy="456840"/>
          </a:xfrm>
          <a:prstGeom prst="ellipse">
            <a:avLst/>
          </a:prstGeom>
          <a:solidFill>
            <a:srgbClr val="2A21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9"/>
          <p:cNvSpPr/>
          <p:nvPr/>
        </p:nvSpPr>
        <p:spPr>
          <a:xfrm>
            <a:off x="4638960" y="208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6B00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4638960" y="2697480"/>
            <a:ext cx="291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Accounts &amp; Auth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1"/>
          <p:cNvSpPr/>
          <p:nvPr/>
        </p:nvSpPr>
        <p:spPr>
          <a:xfrm>
            <a:off x="4638960" y="3063240"/>
            <a:ext cx="291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Register and log in; sessions kept in local storage.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2"/>
          <p:cNvSpPr/>
          <p:nvPr/>
        </p:nvSpPr>
        <p:spPr>
          <a:xfrm>
            <a:off x="8125920" y="1828800"/>
            <a:ext cx="3422520" cy="1874160"/>
          </a:xfrm>
          <a:prstGeom prst="roundRect">
            <a:avLst>
              <a:gd name="adj" fmla="val 5854"/>
            </a:avLst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3"/>
          <p:cNvSpPr/>
          <p:nvPr/>
        </p:nvSpPr>
        <p:spPr>
          <a:xfrm>
            <a:off x="8381880" y="2084760"/>
            <a:ext cx="456840" cy="456840"/>
          </a:xfrm>
          <a:prstGeom prst="ellipse">
            <a:avLst/>
          </a:prstGeom>
          <a:solidFill>
            <a:srgbClr val="2A21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4"/>
          <p:cNvSpPr/>
          <p:nvPr/>
        </p:nvSpPr>
        <p:spPr>
          <a:xfrm>
            <a:off x="8381880" y="208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6B00"/>
                </a:solidFill>
                <a:effectLst/>
                <a:uFillTx/>
                <a:latin typeface="Calibri"/>
                <a:ea typeface="Calibri"/>
              </a:rPr>
              <a:t>₹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5"/>
          <p:cNvSpPr/>
          <p:nvPr/>
        </p:nvSpPr>
        <p:spPr>
          <a:xfrm>
            <a:off x="8381880" y="2697480"/>
            <a:ext cx="291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Fare Calculator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6"/>
          <p:cNvSpPr/>
          <p:nvPr/>
        </p:nvSpPr>
        <p:spPr>
          <a:xfrm>
            <a:off x="8381880" y="3063240"/>
            <a:ext cx="291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Base fare + distance + ride type (Bike, Go, Premium).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7"/>
          <p:cNvSpPr/>
          <p:nvPr/>
        </p:nvSpPr>
        <p:spPr>
          <a:xfrm>
            <a:off x="640080" y="3977640"/>
            <a:ext cx="3422520" cy="1874160"/>
          </a:xfrm>
          <a:prstGeom prst="roundRect">
            <a:avLst>
              <a:gd name="adj" fmla="val 5854"/>
            </a:avLst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8"/>
          <p:cNvSpPr/>
          <p:nvPr/>
        </p:nvSpPr>
        <p:spPr>
          <a:xfrm>
            <a:off x="896040" y="4233600"/>
            <a:ext cx="456840" cy="456840"/>
          </a:xfrm>
          <a:prstGeom prst="ellipse">
            <a:avLst/>
          </a:prstGeom>
          <a:solidFill>
            <a:srgbClr val="2A21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9"/>
          <p:cNvSpPr/>
          <p:nvPr/>
        </p:nvSpPr>
        <p:spPr>
          <a:xfrm>
            <a:off x="896040" y="4233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6B00"/>
                </a:solidFill>
                <a:effectLst/>
                <a:uFillTx/>
                <a:latin typeface="Calibri"/>
                <a:ea typeface="Calibri"/>
              </a:rPr>
              <a:t>◎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0"/>
          <p:cNvSpPr/>
          <p:nvPr/>
        </p:nvSpPr>
        <p:spPr>
          <a:xfrm>
            <a:off x="896040" y="4846320"/>
            <a:ext cx="291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Live Ride Status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1"/>
          <p:cNvSpPr/>
          <p:nvPr/>
        </p:nvSpPr>
        <p:spPr>
          <a:xfrm>
            <a:off x="896040" y="5212080"/>
            <a:ext cx="291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Searching, driver assigned, and route summary in one view.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2"/>
          <p:cNvSpPr/>
          <p:nvPr/>
        </p:nvSpPr>
        <p:spPr>
          <a:xfrm>
            <a:off x="4383000" y="3977640"/>
            <a:ext cx="3422520" cy="1874160"/>
          </a:xfrm>
          <a:prstGeom prst="roundRect">
            <a:avLst>
              <a:gd name="adj" fmla="val 5854"/>
            </a:avLst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3"/>
          <p:cNvSpPr/>
          <p:nvPr/>
        </p:nvSpPr>
        <p:spPr>
          <a:xfrm>
            <a:off x="4638960" y="4233600"/>
            <a:ext cx="456840" cy="456840"/>
          </a:xfrm>
          <a:prstGeom prst="ellipse">
            <a:avLst/>
          </a:prstGeom>
          <a:solidFill>
            <a:srgbClr val="2A21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4"/>
          <p:cNvSpPr/>
          <p:nvPr/>
        </p:nvSpPr>
        <p:spPr>
          <a:xfrm>
            <a:off x="4638960" y="4233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6B00"/>
                </a:solidFill>
                <a:effectLst/>
                <a:uFillTx/>
                <a:latin typeface="Calibri"/>
                <a:ea typeface="Calibri"/>
              </a:rPr>
              <a:t>≡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5"/>
          <p:cNvSpPr/>
          <p:nvPr/>
        </p:nvSpPr>
        <p:spPr>
          <a:xfrm>
            <a:off x="4638960" y="4846320"/>
            <a:ext cx="291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Ride History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6"/>
          <p:cNvSpPr/>
          <p:nvPr/>
        </p:nvSpPr>
        <p:spPr>
          <a:xfrm>
            <a:off x="4638960" y="5212080"/>
            <a:ext cx="291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Past trips per account, with fare </a:t>
            </a:r>
            <a:r>
              <a:rPr lang="en-US" sz="108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and status.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7"/>
          <p:cNvSpPr/>
          <p:nvPr/>
        </p:nvSpPr>
        <p:spPr>
          <a:xfrm>
            <a:off x="8125920" y="3977640"/>
            <a:ext cx="3422520" cy="1874160"/>
          </a:xfrm>
          <a:prstGeom prst="roundRect">
            <a:avLst>
              <a:gd name="adj" fmla="val 5854"/>
            </a:avLst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8"/>
          <p:cNvSpPr/>
          <p:nvPr/>
        </p:nvSpPr>
        <p:spPr>
          <a:xfrm>
            <a:off x="8381880" y="4233600"/>
            <a:ext cx="456840" cy="456840"/>
          </a:xfrm>
          <a:prstGeom prst="ellipse">
            <a:avLst/>
          </a:prstGeom>
          <a:solidFill>
            <a:srgbClr val="2A21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9"/>
          <p:cNvSpPr/>
          <p:nvPr/>
        </p:nvSpPr>
        <p:spPr>
          <a:xfrm>
            <a:off x="8381880" y="4233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6B00"/>
                </a:solidFill>
                <a:effectLst/>
                <a:uFillTx/>
                <a:latin typeface="Calibri"/>
                <a:ea typeface="Calibri"/>
              </a:rPr>
              <a:t>◈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0"/>
          <p:cNvSpPr/>
          <p:nvPr/>
        </p:nvSpPr>
        <p:spPr>
          <a:xfrm>
            <a:off x="8381880" y="4846320"/>
            <a:ext cx="291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Driver Mode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1"/>
          <p:cNvSpPr/>
          <p:nvPr/>
        </p:nvSpPr>
        <p:spPr>
          <a:xfrm>
            <a:off x="8381880" y="5212080"/>
            <a:ext cx="291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A separate dashboard for rides completed and earnings.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2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640080" y="5029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HOW IT WORKS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594360" y="86868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From sign-</a:t>
            </a: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up to a </a:t>
            </a: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completed </a:t>
            </a: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ride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1628280" y="2788920"/>
            <a:ext cx="8931960" cy="360"/>
          </a:xfrm>
          <a:prstGeom prst="line">
            <a:avLst/>
          </a:prstGeom>
          <a:ln w="25400">
            <a:solidFill>
              <a:srgbClr val="E5E7E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1390680" y="2551320"/>
            <a:ext cx="475200" cy="475200"/>
          </a:xfrm>
          <a:prstGeom prst="ellipse">
            <a:avLst/>
          </a:prstGeom>
          <a:solidFill>
            <a:srgbClr val="FF6B00"/>
          </a:solidFill>
          <a:ln w="19050">
            <a:solidFill>
              <a:srgbClr val="FF6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1390680" y="25513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640080" y="3291840"/>
            <a:ext cx="1976400" cy="2102760"/>
          </a:xfrm>
          <a:prstGeom prst="roundRect">
            <a:avLst>
              <a:gd name="adj" fmla="val 5550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804600" y="3493080"/>
            <a:ext cx="1647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Sign up / Log 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804600" y="4041720"/>
            <a:ext cx="16473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Create an account or log in; details are kept in local storage.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8"/>
          <p:cNvSpPr/>
          <p:nvPr/>
        </p:nvSpPr>
        <p:spPr>
          <a:xfrm>
            <a:off x="3623760" y="2551320"/>
            <a:ext cx="475200" cy="47520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FF6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3623760" y="25513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0"/>
          <p:cNvSpPr/>
          <p:nvPr/>
        </p:nvSpPr>
        <p:spPr>
          <a:xfrm>
            <a:off x="2873160" y="3291840"/>
            <a:ext cx="1976400" cy="2102760"/>
          </a:xfrm>
          <a:prstGeom prst="roundRect">
            <a:avLst>
              <a:gd name="adj" fmla="val 5550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3037680" y="3493080"/>
            <a:ext cx="1647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Enter your route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3037680" y="4041720"/>
            <a:ext cx="16473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Pickup and destination, from the home page or booking form.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3"/>
          <p:cNvSpPr/>
          <p:nvPr/>
        </p:nvSpPr>
        <p:spPr>
          <a:xfrm>
            <a:off x="5856840" y="2551320"/>
            <a:ext cx="475200" cy="47520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FF6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5856840" y="25513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5"/>
          <p:cNvSpPr/>
          <p:nvPr/>
        </p:nvSpPr>
        <p:spPr>
          <a:xfrm>
            <a:off x="5105880" y="3291840"/>
            <a:ext cx="1976400" cy="2102760"/>
          </a:xfrm>
          <a:prstGeom prst="roundRect">
            <a:avLst>
              <a:gd name="adj" fmla="val 5550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6"/>
          <p:cNvSpPr/>
          <p:nvPr/>
        </p:nvSpPr>
        <p:spPr>
          <a:xfrm>
            <a:off x="5270760" y="3493080"/>
            <a:ext cx="1647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Get a fare estimate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5270760" y="4041720"/>
            <a:ext cx="16473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Pick Bike, Go or Premium and see the full price breakdown.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8"/>
          <p:cNvSpPr/>
          <p:nvPr/>
        </p:nvSpPr>
        <p:spPr>
          <a:xfrm>
            <a:off x="8089560" y="2551320"/>
            <a:ext cx="475200" cy="47520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FF6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9"/>
          <p:cNvSpPr/>
          <p:nvPr/>
        </p:nvSpPr>
        <p:spPr>
          <a:xfrm>
            <a:off x="8089560" y="25513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0"/>
          <p:cNvSpPr/>
          <p:nvPr/>
        </p:nvSpPr>
        <p:spPr>
          <a:xfrm>
            <a:off x="7338960" y="3291840"/>
            <a:ext cx="1976400" cy="2102760"/>
          </a:xfrm>
          <a:prstGeom prst="roundRect">
            <a:avLst>
              <a:gd name="adj" fmla="val 5550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7503480" y="3493080"/>
            <a:ext cx="1647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Get matched &amp; ride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2"/>
          <p:cNvSpPr/>
          <p:nvPr/>
        </p:nvSpPr>
        <p:spPr>
          <a:xfrm>
            <a:off x="7503480" y="4041720"/>
            <a:ext cx="16473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 driver is assigned; status updates from searching to en route.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3"/>
          <p:cNvSpPr/>
          <p:nvPr/>
        </p:nvSpPr>
        <p:spPr>
          <a:xfrm>
            <a:off x="10322640" y="2551320"/>
            <a:ext cx="475200" cy="47520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FF6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4"/>
          <p:cNvSpPr/>
          <p:nvPr/>
        </p:nvSpPr>
        <p:spPr>
          <a:xfrm>
            <a:off x="10322640" y="25513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5"/>
          <p:cNvSpPr/>
          <p:nvPr/>
        </p:nvSpPr>
        <p:spPr>
          <a:xfrm>
            <a:off x="9572040" y="3291840"/>
            <a:ext cx="1976400" cy="2102760"/>
          </a:xfrm>
          <a:prstGeom prst="roundRect">
            <a:avLst>
              <a:gd name="adj" fmla="val 5550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6"/>
          <p:cNvSpPr/>
          <p:nvPr/>
        </p:nvSpPr>
        <p:spPr>
          <a:xfrm>
            <a:off x="9736560" y="3493080"/>
            <a:ext cx="1647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Rate &amp; review history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7"/>
          <p:cNvSpPr/>
          <p:nvPr/>
        </p:nvSpPr>
        <p:spPr>
          <a:xfrm>
            <a:off x="9736560" y="4041720"/>
            <a:ext cx="16473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The trip lands in ride history, fare and status included.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8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640080" y="5029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F6B00"/>
                </a:solidFill>
                <a:effectLst/>
                <a:uFillTx/>
                <a:latin typeface="Calibri"/>
                <a:ea typeface="Calibri"/>
              </a:rPr>
              <a:t>APPLICATION SCREENS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594360" y="86868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Three screens from the real build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"/>
          <p:cNvSpPr/>
          <p:nvPr/>
        </p:nvSpPr>
        <p:spPr>
          <a:xfrm>
            <a:off x="685800" y="1783080"/>
            <a:ext cx="3401280" cy="4251600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3741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685800" y="6181200"/>
            <a:ext cx="340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D1D5DB"/>
                </a:solidFill>
                <a:effectLst/>
                <a:uFillTx/>
                <a:latin typeface="Calibri"/>
                <a:ea typeface="Calibri"/>
              </a:rPr>
              <a:t>Home — Quick Book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685800" y="1783080"/>
            <a:ext cx="34012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5"/>
          <p:cNvSpPr/>
          <p:nvPr/>
        </p:nvSpPr>
        <p:spPr>
          <a:xfrm>
            <a:off x="813960" y="1874520"/>
            <a:ext cx="200880" cy="200880"/>
          </a:xfrm>
          <a:prstGeom prst="roundRect">
            <a:avLst>
              <a:gd name="adj" fmla="val 22727"/>
            </a:avLst>
          </a:prstGeom>
          <a:solidFill>
            <a:srgbClr val="FF6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1069920" y="185616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RideShare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7"/>
          <p:cNvSpPr/>
          <p:nvPr/>
        </p:nvSpPr>
        <p:spPr>
          <a:xfrm>
            <a:off x="887040" y="2313360"/>
            <a:ext cx="2998800" cy="18741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8"/>
          <p:cNvSpPr/>
          <p:nvPr/>
        </p:nvSpPr>
        <p:spPr>
          <a:xfrm>
            <a:off x="1051560" y="244152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QUICK BOOK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1051560" y="264276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Where are you going?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0"/>
          <p:cNvSpPr/>
          <p:nvPr/>
        </p:nvSpPr>
        <p:spPr>
          <a:xfrm>
            <a:off x="1051560" y="3044880"/>
            <a:ext cx="91080" cy="91080"/>
          </a:xfrm>
          <a:prstGeom prst="ellipse">
            <a:avLst/>
          </a:prstGeom>
          <a:solidFill>
            <a:srgbClr val="FF6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1216080" y="299016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Pickup location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2"/>
          <p:cNvSpPr/>
          <p:nvPr/>
        </p:nvSpPr>
        <p:spPr>
          <a:xfrm>
            <a:off x="1051560" y="3319200"/>
            <a:ext cx="91080" cy="91080"/>
          </a:xfrm>
          <a:prstGeom prst="ellipse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1216080" y="326448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Destination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1051560" y="3611880"/>
            <a:ext cx="2669760" cy="237240"/>
          </a:xfrm>
          <a:prstGeom prst="roundRect">
            <a:avLst>
              <a:gd name="adj" fmla="val 23077"/>
            </a:avLst>
          </a:prstGeom>
          <a:solidFill>
            <a:srgbClr val="FF6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5"/>
          <p:cNvSpPr/>
          <p:nvPr/>
        </p:nvSpPr>
        <p:spPr>
          <a:xfrm>
            <a:off x="1051560" y="3611880"/>
            <a:ext cx="2669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Get Fare Estimate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6"/>
          <p:cNvSpPr/>
          <p:nvPr/>
        </p:nvSpPr>
        <p:spPr>
          <a:xfrm>
            <a:off x="887040" y="4361760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Ride your way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7"/>
          <p:cNvSpPr/>
          <p:nvPr/>
        </p:nvSpPr>
        <p:spPr>
          <a:xfrm>
            <a:off x="887040" y="4672440"/>
            <a:ext cx="2998800" cy="347040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8"/>
          <p:cNvSpPr/>
          <p:nvPr/>
        </p:nvSpPr>
        <p:spPr>
          <a:xfrm>
            <a:off x="1033200" y="467244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●  </a:t>
            </a:r>
            <a:r>
              <a:rPr lang="en-US" sz="9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Go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9"/>
          <p:cNvSpPr/>
          <p:nvPr/>
        </p:nvSpPr>
        <p:spPr>
          <a:xfrm>
            <a:off x="887040" y="4672440"/>
            <a:ext cx="2852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From ₹49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0"/>
          <p:cNvSpPr/>
          <p:nvPr/>
        </p:nvSpPr>
        <p:spPr>
          <a:xfrm>
            <a:off x="887040" y="5074920"/>
            <a:ext cx="2998800" cy="347040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1"/>
          <p:cNvSpPr/>
          <p:nvPr/>
        </p:nvSpPr>
        <p:spPr>
          <a:xfrm>
            <a:off x="1033200" y="507492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◆  Premium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2"/>
          <p:cNvSpPr/>
          <p:nvPr/>
        </p:nvSpPr>
        <p:spPr>
          <a:xfrm>
            <a:off x="887040" y="5074920"/>
            <a:ext cx="2852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From ₹99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3"/>
          <p:cNvSpPr/>
          <p:nvPr/>
        </p:nvSpPr>
        <p:spPr>
          <a:xfrm>
            <a:off x="887040" y="5477400"/>
            <a:ext cx="2998800" cy="347040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4"/>
          <p:cNvSpPr/>
          <p:nvPr/>
        </p:nvSpPr>
        <p:spPr>
          <a:xfrm>
            <a:off x="1033200" y="54774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▲  Bike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5"/>
          <p:cNvSpPr/>
          <p:nvPr/>
        </p:nvSpPr>
        <p:spPr>
          <a:xfrm>
            <a:off x="887040" y="5477400"/>
            <a:ext cx="2852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From ₹29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6"/>
          <p:cNvSpPr/>
          <p:nvPr/>
        </p:nvSpPr>
        <p:spPr>
          <a:xfrm>
            <a:off x="4389120" y="1783080"/>
            <a:ext cx="3401280" cy="4251600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3741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7"/>
          <p:cNvSpPr/>
          <p:nvPr/>
        </p:nvSpPr>
        <p:spPr>
          <a:xfrm>
            <a:off x="4389120" y="6181200"/>
            <a:ext cx="340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D1D5DB"/>
                </a:solidFill>
                <a:effectLst/>
                <a:uFillTx/>
                <a:latin typeface="Calibri"/>
                <a:ea typeface="Calibri"/>
              </a:rPr>
              <a:t>Book Ride — Fare Result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8"/>
          <p:cNvSpPr/>
          <p:nvPr/>
        </p:nvSpPr>
        <p:spPr>
          <a:xfrm>
            <a:off x="4590360" y="2002680"/>
            <a:ext cx="299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Plan your journey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9"/>
          <p:cNvSpPr/>
          <p:nvPr/>
        </p:nvSpPr>
        <p:spPr>
          <a:xfrm>
            <a:off x="4590360" y="2386440"/>
            <a:ext cx="2998800" cy="16912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0"/>
          <p:cNvSpPr/>
          <p:nvPr/>
        </p:nvSpPr>
        <p:spPr>
          <a:xfrm>
            <a:off x="4754880" y="249624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ESTIMATED FARE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1"/>
          <p:cNvSpPr/>
          <p:nvPr/>
        </p:nvSpPr>
        <p:spPr>
          <a:xfrm>
            <a:off x="4754880" y="26791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Go Ride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2"/>
          <p:cNvSpPr/>
          <p:nvPr/>
        </p:nvSpPr>
        <p:spPr>
          <a:xfrm>
            <a:off x="4590360" y="2606040"/>
            <a:ext cx="2852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6B00"/>
                </a:solidFill>
                <a:effectLst/>
                <a:uFillTx/>
                <a:latin typeface="Calibri"/>
                <a:ea typeface="Calibri"/>
              </a:rPr>
              <a:t>₹212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3"/>
          <p:cNvSpPr/>
          <p:nvPr/>
        </p:nvSpPr>
        <p:spPr>
          <a:xfrm>
            <a:off x="4754880" y="304488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Distance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4"/>
          <p:cNvSpPr/>
          <p:nvPr/>
        </p:nvSpPr>
        <p:spPr>
          <a:xfrm>
            <a:off x="4590360" y="30448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12 km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5"/>
          <p:cNvSpPr/>
          <p:nvPr/>
        </p:nvSpPr>
        <p:spPr>
          <a:xfrm>
            <a:off x="4754880" y="326448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Base Fare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6"/>
          <p:cNvSpPr/>
          <p:nvPr/>
        </p:nvSpPr>
        <p:spPr>
          <a:xfrm>
            <a:off x="4590360" y="32644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₹49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37"/>
          <p:cNvSpPr/>
          <p:nvPr/>
        </p:nvSpPr>
        <p:spPr>
          <a:xfrm>
            <a:off x="4754880" y="34837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Distance Fare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8"/>
          <p:cNvSpPr/>
          <p:nvPr/>
        </p:nvSpPr>
        <p:spPr>
          <a:xfrm>
            <a:off x="4590360" y="34837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₹144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9"/>
          <p:cNvSpPr/>
          <p:nvPr/>
        </p:nvSpPr>
        <p:spPr>
          <a:xfrm>
            <a:off x="4754880" y="37033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Booking Fee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0"/>
          <p:cNvSpPr/>
          <p:nvPr/>
        </p:nvSpPr>
        <p:spPr>
          <a:xfrm>
            <a:off x="4590360" y="37033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₹10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41"/>
          <p:cNvSpPr/>
          <p:nvPr/>
        </p:nvSpPr>
        <p:spPr>
          <a:xfrm>
            <a:off x="4590360" y="4187880"/>
            <a:ext cx="2998800" cy="273960"/>
          </a:xfrm>
          <a:prstGeom prst="roundRect">
            <a:avLst>
              <a:gd name="adj" fmla="val 23333"/>
            </a:avLst>
          </a:prstGeom>
          <a:solidFill>
            <a:srgbClr val="FF6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42"/>
          <p:cNvSpPr/>
          <p:nvPr/>
        </p:nvSpPr>
        <p:spPr>
          <a:xfrm>
            <a:off x="4590360" y="4187880"/>
            <a:ext cx="299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Confirm Ride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3"/>
          <p:cNvSpPr/>
          <p:nvPr/>
        </p:nvSpPr>
        <p:spPr>
          <a:xfrm>
            <a:off x="4590360" y="4590360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Ride Type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44"/>
          <p:cNvSpPr/>
          <p:nvPr/>
        </p:nvSpPr>
        <p:spPr>
          <a:xfrm>
            <a:off x="4590360" y="4892040"/>
            <a:ext cx="926280" cy="3654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5"/>
          <p:cNvSpPr/>
          <p:nvPr/>
        </p:nvSpPr>
        <p:spPr>
          <a:xfrm>
            <a:off x="4590360" y="4892040"/>
            <a:ext cx="926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Bike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6"/>
          <p:cNvSpPr/>
          <p:nvPr/>
        </p:nvSpPr>
        <p:spPr>
          <a:xfrm>
            <a:off x="5590080" y="4892040"/>
            <a:ext cx="926280" cy="365400"/>
          </a:xfrm>
          <a:prstGeom prst="roundRect">
            <a:avLst>
              <a:gd name="adj" fmla="val 17500"/>
            </a:avLst>
          </a:prstGeom>
          <a:solidFill>
            <a:srgbClr val="FFF1E8"/>
          </a:solidFill>
          <a:ln w="12700">
            <a:solidFill>
              <a:srgbClr val="FF6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47"/>
          <p:cNvSpPr/>
          <p:nvPr/>
        </p:nvSpPr>
        <p:spPr>
          <a:xfrm>
            <a:off x="5590080" y="4892040"/>
            <a:ext cx="926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Go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48"/>
          <p:cNvSpPr/>
          <p:nvPr/>
        </p:nvSpPr>
        <p:spPr>
          <a:xfrm>
            <a:off x="6589800" y="4892040"/>
            <a:ext cx="926280" cy="3654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49"/>
          <p:cNvSpPr/>
          <p:nvPr/>
        </p:nvSpPr>
        <p:spPr>
          <a:xfrm>
            <a:off x="6589800" y="4892040"/>
            <a:ext cx="926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Premium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50"/>
          <p:cNvSpPr/>
          <p:nvPr/>
        </p:nvSpPr>
        <p:spPr>
          <a:xfrm>
            <a:off x="8092440" y="1783080"/>
            <a:ext cx="3401280" cy="4251600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3741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51"/>
          <p:cNvSpPr/>
          <p:nvPr/>
        </p:nvSpPr>
        <p:spPr>
          <a:xfrm>
            <a:off x="8092440" y="6181200"/>
            <a:ext cx="340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D1D5DB"/>
                </a:solidFill>
                <a:effectLst/>
                <a:uFillTx/>
                <a:latin typeface="Calibri"/>
                <a:ea typeface="Calibri"/>
              </a:rPr>
              <a:t>Ride Status — Driver Found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52"/>
          <p:cNvSpPr/>
          <p:nvPr/>
        </p:nvSpPr>
        <p:spPr>
          <a:xfrm>
            <a:off x="9473040" y="2103120"/>
            <a:ext cx="639720" cy="639720"/>
          </a:xfrm>
          <a:prstGeom prst="ellipse">
            <a:avLst/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53"/>
          <p:cNvSpPr/>
          <p:nvPr/>
        </p:nvSpPr>
        <p:spPr>
          <a:xfrm>
            <a:off x="9473040" y="21031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54"/>
          <p:cNvSpPr/>
          <p:nvPr/>
        </p:nvSpPr>
        <p:spPr>
          <a:xfrm>
            <a:off x="8092440" y="2862000"/>
            <a:ext cx="3401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DRIVER FOUND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55"/>
          <p:cNvSpPr/>
          <p:nvPr/>
        </p:nvSpPr>
        <p:spPr>
          <a:xfrm>
            <a:off x="8092440" y="3081600"/>
            <a:ext cx="340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Your driver is on the way!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56"/>
          <p:cNvSpPr/>
          <p:nvPr/>
        </p:nvSpPr>
        <p:spPr>
          <a:xfrm>
            <a:off x="8293680" y="3474720"/>
            <a:ext cx="2998800" cy="6854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57"/>
          <p:cNvSpPr/>
          <p:nvPr/>
        </p:nvSpPr>
        <p:spPr>
          <a:xfrm>
            <a:off x="8421480" y="3602880"/>
            <a:ext cx="420120" cy="420120"/>
          </a:xfrm>
          <a:prstGeom prst="ellipse">
            <a:avLst/>
          </a:prstGeom>
          <a:solidFill>
            <a:srgbClr val="E5E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8"/>
          <p:cNvSpPr/>
          <p:nvPr/>
        </p:nvSpPr>
        <p:spPr>
          <a:xfrm>
            <a:off x="8952120" y="3593520"/>
            <a:ext cx="2304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Rahul Sharma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59"/>
          <p:cNvSpPr/>
          <p:nvPr/>
        </p:nvSpPr>
        <p:spPr>
          <a:xfrm>
            <a:off x="8952120" y="3831480"/>
            <a:ext cx="2304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⭐ 4.8  ·  White Swift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60"/>
          <p:cNvSpPr/>
          <p:nvPr/>
        </p:nvSpPr>
        <p:spPr>
          <a:xfrm>
            <a:off x="8293680" y="4325040"/>
            <a:ext cx="2998800" cy="6854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61"/>
          <p:cNvSpPr/>
          <p:nvPr/>
        </p:nvSpPr>
        <p:spPr>
          <a:xfrm>
            <a:off x="8439840" y="441648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PICKUP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62"/>
          <p:cNvSpPr/>
          <p:nvPr/>
        </p:nvSpPr>
        <p:spPr>
          <a:xfrm>
            <a:off x="8439840" y="4581000"/>
            <a:ext cx="2761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MG Road Station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63"/>
          <p:cNvSpPr/>
          <p:nvPr/>
        </p:nvSpPr>
        <p:spPr>
          <a:xfrm>
            <a:off x="8439840" y="4782240"/>
            <a:ext cx="1462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DESTINATION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64"/>
          <p:cNvSpPr/>
          <p:nvPr/>
        </p:nvSpPr>
        <p:spPr>
          <a:xfrm>
            <a:off x="8439840" y="4946760"/>
            <a:ext cx="2761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City Airport T2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65"/>
          <p:cNvSpPr/>
          <p:nvPr/>
        </p:nvSpPr>
        <p:spPr>
          <a:xfrm>
            <a:off x="8293680" y="5184720"/>
            <a:ext cx="2998800" cy="328680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66"/>
          <p:cNvSpPr/>
          <p:nvPr/>
        </p:nvSpPr>
        <p:spPr>
          <a:xfrm>
            <a:off x="8293680" y="5184720"/>
            <a:ext cx="2998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Cancel Ride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67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640080" y="5029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TECH STACK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"/>
          <p:cNvSpPr/>
          <p:nvPr/>
        </p:nvSpPr>
        <p:spPr>
          <a:xfrm>
            <a:off x="594360" y="86868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Built front-end only, data kept in the browser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"/>
          <p:cNvSpPr/>
          <p:nvPr/>
        </p:nvSpPr>
        <p:spPr>
          <a:xfrm>
            <a:off x="640080" y="1600200"/>
            <a:ext cx="777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No server and no database — the whole app runs from three files, with localStorage standing in for a backend so the full flow can still be demoed end to end.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3"/>
          <p:cNvSpPr/>
          <p:nvPr/>
        </p:nvSpPr>
        <p:spPr>
          <a:xfrm>
            <a:off x="640080" y="2423160"/>
            <a:ext cx="2521080" cy="2651400"/>
          </a:xfrm>
          <a:prstGeom prst="roundRect">
            <a:avLst>
              <a:gd name="adj" fmla="val 4352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4"/>
          <p:cNvSpPr/>
          <p:nvPr/>
        </p:nvSpPr>
        <p:spPr>
          <a:xfrm>
            <a:off x="859680" y="2660760"/>
            <a:ext cx="456840" cy="456840"/>
          </a:xfrm>
          <a:prstGeom prst="roundRect">
            <a:avLst>
              <a:gd name="adj" fmla="val 22000"/>
            </a:avLst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5"/>
          <p:cNvSpPr/>
          <p:nvPr/>
        </p:nvSpPr>
        <p:spPr>
          <a:xfrm>
            <a:off x="859680" y="2660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6"/>
          <p:cNvSpPr/>
          <p:nvPr/>
        </p:nvSpPr>
        <p:spPr>
          <a:xfrm>
            <a:off x="859680" y="3291840"/>
            <a:ext cx="2082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HTML5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7"/>
          <p:cNvSpPr/>
          <p:nvPr/>
        </p:nvSpPr>
        <p:spPr>
          <a:xfrm>
            <a:off x="859680" y="3703320"/>
            <a:ext cx="2082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Semantic markup across Home, Book, Ride, History, Driver and Profile pages.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8"/>
          <p:cNvSpPr/>
          <p:nvPr/>
        </p:nvSpPr>
        <p:spPr>
          <a:xfrm>
            <a:off x="3435840" y="2423160"/>
            <a:ext cx="2521080" cy="2651400"/>
          </a:xfrm>
          <a:prstGeom prst="roundRect">
            <a:avLst>
              <a:gd name="adj" fmla="val 4352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9"/>
          <p:cNvSpPr/>
          <p:nvPr/>
        </p:nvSpPr>
        <p:spPr>
          <a:xfrm>
            <a:off x="3655440" y="2660760"/>
            <a:ext cx="456840" cy="456840"/>
          </a:xfrm>
          <a:prstGeom prst="roundRect">
            <a:avLst>
              <a:gd name="adj" fmla="val 22000"/>
            </a:avLst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0"/>
          <p:cNvSpPr/>
          <p:nvPr/>
        </p:nvSpPr>
        <p:spPr>
          <a:xfrm>
            <a:off x="3655440" y="2660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1"/>
          <p:cNvSpPr/>
          <p:nvPr/>
        </p:nvSpPr>
        <p:spPr>
          <a:xfrm>
            <a:off x="3655440" y="3291840"/>
            <a:ext cx="2082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CSS3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2"/>
          <p:cNvSpPr/>
          <p:nvPr/>
        </p:nvSpPr>
        <p:spPr>
          <a:xfrm>
            <a:off x="3655440" y="3703320"/>
            <a:ext cx="2082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Custom properties, Flexbox and Grid; Inter from Google Fonts.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3"/>
          <p:cNvSpPr/>
          <p:nvPr/>
        </p:nvSpPr>
        <p:spPr>
          <a:xfrm>
            <a:off x="6231600" y="2423160"/>
            <a:ext cx="2521080" cy="2651400"/>
          </a:xfrm>
          <a:prstGeom prst="roundRect">
            <a:avLst>
              <a:gd name="adj" fmla="val 4352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4"/>
          <p:cNvSpPr/>
          <p:nvPr/>
        </p:nvSpPr>
        <p:spPr>
          <a:xfrm>
            <a:off x="6451200" y="2660760"/>
            <a:ext cx="456840" cy="456840"/>
          </a:xfrm>
          <a:prstGeom prst="roundRect">
            <a:avLst>
              <a:gd name="adj" fmla="val 22000"/>
            </a:avLst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5"/>
          <p:cNvSpPr/>
          <p:nvPr/>
        </p:nvSpPr>
        <p:spPr>
          <a:xfrm>
            <a:off x="6451200" y="2660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6"/>
          <p:cNvSpPr/>
          <p:nvPr/>
        </p:nvSpPr>
        <p:spPr>
          <a:xfrm>
            <a:off x="6451200" y="3291840"/>
            <a:ext cx="2082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Vanilla JavaScript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7"/>
          <p:cNvSpPr/>
          <p:nvPr/>
        </p:nvSpPr>
        <p:spPr>
          <a:xfrm>
            <a:off x="6451200" y="3703320"/>
            <a:ext cx="2082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Page routing, fare logic, and modal/toast interactions.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8"/>
          <p:cNvSpPr/>
          <p:nvPr/>
        </p:nvSpPr>
        <p:spPr>
          <a:xfrm>
            <a:off x="9027360" y="2423160"/>
            <a:ext cx="2521080" cy="2651400"/>
          </a:xfrm>
          <a:prstGeom prst="roundRect">
            <a:avLst>
              <a:gd name="adj" fmla="val 4352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9"/>
          <p:cNvSpPr/>
          <p:nvPr/>
        </p:nvSpPr>
        <p:spPr>
          <a:xfrm>
            <a:off x="9246960" y="2660760"/>
            <a:ext cx="456840" cy="456840"/>
          </a:xfrm>
          <a:prstGeom prst="roundRect">
            <a:avLst>
              <a:gd name="adj" fmla="val 22000"/>
            </a:avLst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0"/>
          <p:cNvSpPr/>
          <p:nvPr/>
        </p:nvSpPr>
        <p:spPr>
          <a:xfrm>
            <a:off x="9246960" y="2660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1"/>
          <p:cNvSpPr/>
          <p:nvPr/>
        </p:nvSpPr>
        <p:spPr>
          <a:xfrm>
            <a:off x="9246960" y="3291840"/>
            <a:ext cx="2082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localStorage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2"/>
          <p:cNvSpPr/>
          <p:nvPr/>
        </p:nvSpPr>
        <p:spPr>
          <a:xfrm>
            <a:off x="9246960" y="3703320"/>
            <a:ext cx="2082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rideShareUsers, rideShareCurrentUser and rideShareRides as JSON.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3"/>
          <p:cNvSpPr/>
          <p:nvPr/>
        </p:nvSpPr>
        <p:spPr>
          <a:xfrm>
            <a:off x="640080" y="5349240"/>
            <a:ext cx="10908360" cy="91404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4"/>
          <p:cNvSpPr/>
          <p:nvPr/>
        </p:nvSpPr>
        <p:spPr>
          <a:xfrm>
            <a:off x="914400" y="5349240"/>
            <a:ext cx="1035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E5E7EB"/>
                </a:solidFill>
                <a:effectLst/>
                <a:uFillTx/>
                <a:latin typeface="Calibri"/>
                <a:ea typeface="Calibri"/>
              </a:rPr>
              <a:t>Every ride and every account survives a page refresh — all state lives in three localStorage keys, read and written by plain JavaScript functions.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5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640080" y="5029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FUTURE SCOPE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594360" y="86868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Where this project can go next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"/>
          <p:cNvSpPr/>
          <p:nvPr/>
        </p:nvSpPr>
        <p:spPr>
          <a:xfrm>
            <a:off x="640080" y="1874520"/>
            <a:ext cx="5211720" cy="1599840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3"/>
          <p:cNvSpPr/>
          <p:nvPr/>
        </p:nvSpPr>
        <p:spPr>
          <a:xfrm>
            <a:off x="896040" y="2130480"/>
            <a:ext cx="420120" cy="420120"/>
          </a:xfrm>
          <a:prstGeom prst="ellipse">
            <a:avLst/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4"/>
          <p:cNvSpPr/>
          <p:nvPr/>
        </p:nvSpPr>
        <p:spPr>
          <a:xfrm>
            <a:off x="896040" y="21304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5"/>
          <p:cNvSpPr/>
          <p:nvPr/>
        </p:nvSpPr>
        <p:spPr>
          <a:xfrm>
            <a:off x="1463040" y="2094120"/>
            <a:ext cx="4205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Real backend &amp; </a:t>
            </a: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database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6"/>
          <p:cNvSpPr/>
          <p:nvPr/>
        </p:nvSpPr>
        <p:spPr>
          <a:xfrm>
            <a:off x="896040" y="2715840"/>
            <a:ext cx="470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Move users and rides off localStorage and onto a server.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7"/>
          <p:cNvSpPr/>
          <p:nvPr/>
        </p:nvSpPr>
        <p:spPr>
          <a:xfrm>
            <a:off x="6126480" y="1874520"/>
            <a:ext cx="5211720" cy="1599840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8"/>
          <p:cNvSpPr/>
          <p:nvPr/>
        </p:nvSpPr>
        <p:spPr>
          <a:xfrm>
            <a:off x="6382440" y="2130480"/>
            <a:ext cx="420120" cy="420120"/>
          </a:xfrm>
          <a:prstGeom prst="ellipse">
            <a:avLst/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9"/>
          <p:cNvSpPr/>
          <p:nvPr/>
        </p:nvSpPr>
        <p:spPr>
          <a:xfrm>
            <a:off x="6382440" y="21304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0"/>
          <p:cNvSpPr/>
          <p:nvPr/>
        </p:nvSpPr>
        <p:spPr>
          <a:xfrm>
            <a:off x="6949440" y="2094120"/>
            <a:ext cx="4205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Live GPS tracking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1"/>
          <p:cNvSpPr/>
          <p:nvPr/>
        </p:nvSpPr>
        <p:spPr>
          <a:xfrm>
            <a:off x="6382440" y="2715840"/>
            <a:ext cx="470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Replace status text with a real map and moving driver.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2"/>
          <p:cNvSpPr/>
          <p:nvPr/>
        </p:nvSpPr>
        <p:spPr>
          <a:xfrm>
            <a:off x="640080" y="3794760"/>
            <a:ext cx="5211720" cy="1599840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3"/>
          <p:cNvSpPr/>
          <p:nvPr/>
        </p:nvSpPr>
        <p:spPr>
          <a:xfrm>
            <a:off x="896040" y="4050720"/>
            <a:ext cx="420120" cy="420120"/>
          </a:xfrm>
          <a:prstGeom prst="ellipse">
            <a:avLst/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4"/>
          <p:cNvSpPr/>
          <p:nvPr/>
        </p:nvSpPr>
        <p:spPr>
          <a:xfrm>
            <a:off x="896040" y="40507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5"/>
          <p:cNvSpPr/>
          <p:nvPr/>
        </p:nvSpPr>
        <p:spPr>
          <a:xfrm>
            <a:off x="1463040" y="4014360"/>
            <a:ext cx="4205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Payments integration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6"/>
          <p:cNvSpPr/>
          <p:nvPr/>
        </p:nvSpPr>
        <p:spPr>
          <a:xfrm>
            <a:off x="896040" y="4636080"/>
            <a:ext cx="470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UPI/card checkout in place of the simulated fare screen.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7"/>
          <p:cNvSpPr/>
          <p:nvPr/>
        </p:nvSpPr>
        <p:spPr>
          <a:xfrm>
            <a:off x="6126480" y="3794760"/>
            <a:ext cx="5211720" cy="1599840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8"/>
          <p:cNvSpPr/>
          <p:nvPr/>
        </p:nvSpPr>
        <p:spPr>
          <a:xfrm>
            <a:off x="6382440" y="4050720"/>
            <a:ext cx="420120" cy="420120"/>
          </a:xfrm>
          <a:prstGeom prst="ellipse">
            <a:avLst/>
          </a:prstGeom>
          <a:solidFill>
            <a:srgbClr val="FF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9"/>
          <p:cNvSpPr/>
          <p:nvPr/>
        </p:nvSpPr>
        <p:spPr>
          <a:xfrm>
            <a:off x="6382440" y="40507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5F0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0"/>
          <p:cNvSpPr/>
          <p:nvPr/>
        </p:nvSpPr>
        <p:spPr>
          <a:xfrm>
            <a:off x="6949440" y="4014360"/>
            <a:ext cx="4205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Driver-side live requests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1"/>
          <p:cNvSpPr/>
          <p:nvPr/>
        </p:nvSpPr>
        <p:spPr>
          <a:xfrm>
            <a:off x="6382440" y="4636080"/>
            <a:ext cx="470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Push incoming ride requests to drivers in real time.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2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0"/>
          <p:cNvSpPr/>
          <p:nvPr/>
        </p:nvSpPr>
        <p:spPr>
          <a:xfrm>
            <a:off x="8686800" y="-1828800"/>
            <a:ext cx="5486040" cy="5486040"/>
          </a:xfrm>
          <a:prstGeom prst="ellipse">
            <a:avLst/>
          </a:prstGeom>
          <a:solidFill>
            <a:srgbClr val="FF6B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"/>
          <p:cNvSpPr/>
          <p:nvPr/>
        </p:nvSpPr>
        <p:spPr>
          <a:xfrm>
            <a:off x="822960" y="1874520"/>
            <a:ext cx="639720" cy="639720"/>
          </a:xfrm>
          <a:prstGeom prst="roundRect">
            <a:avLst>
              <a:gd name="adj" fmla="val 22857"/>
            </a:avLst>
          </a:prstGeom>
          <a:solidFill>
            <a:srgbClr val="FF6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"/>
          <p:cNvSpPr/>
          <p:nvPr/>
        </p:nvSpPr>
        <p:spPr>
          <a:xfrm>
            <a:off x="822960" y="18745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"/>
          <p:cNvSpPr/>
          <p:nvPr/>
        </p:nvSpPr>
        <p:spPr>
          <a:xfrm>
            <a:off x="777240" y="269748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Thank you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4"/>
          <p:cNvSpPr/>
          <p:nvPr/>
        </p:nvSpPr>
        <p:spPr>
          <a:xfrm>
            <a:off x="822960" y="35661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5DB"/>
                </a:solidFill>
                <a:effectLst/>
                <a:uFillTx/>
                <a:latin typeface="Calibri"/>
                <a:ea typeface="Calibri"/>
              </a:rPr>
              <a:t>Questions on RideShare — HTML, CSS &amp; JavaScript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5"/>
          <p:cNvSpPr/>
          <p:nvPr/>
        </p:nvSpPr>
        <p:spPr>
          <a:xfrm>
            <a:off x="822960" y="434340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Suraj Kumar   ·   2500032518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6"/>
          <p:cNvSpPr/>
          <p:nvPr/>
        </p:nvSpPr>
        <p:spPr>
          <a:xfrm>
            <a:off x="822960" y="47275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Abhinash Kumar   ·   2500030978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7"/>
          <p:cNvSpPr/>
          <p:nvPr/>
        </p:nvSpPr>
        <p:spPr>
          <a:xfrm>
            <a:off x="822960" y="51116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Shanu Kumar   ·   2500032084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8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2026-09-25T10:45:21Z</dcterms:created>
  <dc:creator>PptxGenJS</dc:creator>
  <dc:description/>
  <dc:language>en-US</dc:language>
  <cp:lastModifiedBy/>
  <dcterms:modified xsi:type="dcterms:W3CDTF">2026-09-25T16:16:35Z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